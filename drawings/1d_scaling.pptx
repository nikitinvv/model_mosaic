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1243D"/>
                </a:solidFill>
              </a:rPr>
              <a:t>Scaling tomo + prop to whole-brain volumes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E15F2E"/>
                </a:solidFill>
              </a:rPr>
              <a:t>Key idea:  every 2-D operator is separable → we only run 1-D computations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77B4"/>
                </a:solidFill>
              </a:rPr>
              <a:t>Tomo — USFFT Radon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685800" cy="384048"/>
          </a:xfrm>
          <a:prstGeom prst="roundRect">
            <a:avLst>
              <a:gd name="adj" fmla="val 15000"/>
            </a:avLst>
          </a:prstGeom>
          <a:solidFill>
            <a:srgbClr val="F2F6FC"/>
          </a:solidFill>
          <a:ln w="952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1243D"/>
                </a:solidFill>
                <a:latin typeface="Consolas"/>
              </a:rPr>
              <a:t>obj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143000" y="1929384"/>
            <a:ext cx="137160" cy="182880"/>
          </a:xfrm>
          <a:prstGeom prst="rightArrow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1828800"/>
            <a:ext cx="685800" cy="384048"/>
          </a:xfrm>
          <a:prstGeom prst="roundRect">
            <a:avLst>
              <a:gd name="adj" fmla="val 15000"/>
            </a:avLst>
          </a:prstGeom>
          <a:solidFill>
            <a:srgbClr val="F2F6FC"/>
          </a:solidFill>
          <a:ln w="952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1243D"/>
                </a:solidFill>
                <a:latin typeface="Consolas"/>
              </a:rPr>
              <a:t>·φ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65960" y="1929384"/>
            <a:ext cx="137160" cy="182880"/>
          </a:xfrm>
          <a:prstGeom prst="rightArrow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1828800"/>
            <a:ext cx="685800" cy="384048"/>
          </a:xfrm>
          <a:prstGeom prst="roundRect">
            <a:avLst>
              <a:gd name="adj" fmla="val 15000"/>
            </a:avLst>
          </a:prstGeom>
          <a:solidFill>
            <a:srgbClr val="F2F6FC"/>
          </a:solidFill>
          <a:ln w="952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1243D"/>
                </a:solidFill>
                <a:latin typeface="Consolas"/>
              </a:rPr>
              <a:t>FFT_x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88920" y="1929384"/>
            <a:ext cx="137160" cy="182880"/>
          </a:xfrm>
          <a:prstGeom prst="rightArrow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1828800"/>
            <a:ext cx="685800" cy="384048"/>
          </a:xfrm>
          <a:prstGeom prst="roundRect">
            <a:avLst>
              <a:gd name="adj" fmla="val 15000"/>
            </a:avLst>
          </a:prstGeom>
          <a:solidFill>
            <a:srgbClr val="F2F6FC"/>
          </a:solidFill>
          <a:ln w="952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1243D"/>
                </a:solidFill>
                <a:latin typeface="Consolas"/>
              </a:rPr>
              <a:t>FFT_y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11880" y="1929384"/>
            <a:ext cx="137160" cy="182880"/>
          </a:xfrm>
          <a:prstGeom prst="rightArrow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49040" y="1828800"/>
            <a:ext cx="685800" cy="384048"/>
          </a:xfrm>
          <a:prstGeom prst="roundRect">
            <a:avLst>
              <a:gd name="adj" fmla="val 15000"/>
            </a:avLst>
          </a:prstGeom>
          <a:solidFill>
            <a:srgbClr val="F2F6FC"/>
          </a:solidFill>
          <a:ln w="952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1243D"/>
                </a:solidFill>
                <a:latin typeface="Consolas"/>
              </a:rPr>
              <a:t>gather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434840" y="1929384"/>
            <a:ext cx="137160" cy="182880"/>
          </a:xfrm>
          <a:prstGeom prst="rightArrow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0" y="1828800"/>
            <a:ext cx="685800" cy="384048"/>
          </a:xfrm>
          <a:prstGeom prst="roundRect">
            <a:avLst>
              <a:gd name="adj" fmla="val 15000"/>
            </a:avLst>
          </a:prstGeom>
          <a:solidFill>
            <a:srgbClr val="F2F6FC"/>
          </a:solidFill>
          <a:ln w="952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1243D"/>
                </a:solidFill>
                <a:latin typeface="Consolas"/>
              </a:rPr>
              <a:t>IFFT_r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257800" y="1929384"/>
            <a:ext cx="137160" cy="182880"/>
          </a:xfrm>
          <a:prstGeom prst="rightArrow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94960" y="1828800"/>
            <a:ext cx="685800" cy="384048"/>
          </a:xfrm>
          <a:prstGeom prst="roundRect">
            <a:avLst>
              <a:gd name="adj" fmla="val 15000"/>
            </a:avLst>
          </a:prstGeom>
          <a:solidFill>
            <a:srgbClr val="F2F6FC"/>
          </a:solidFill>
          <a:ln w="952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1243D"/>
                </a:solidFill>
                <a:latin typeface="Consolas"/>
              </a:rPr>
              <a:t>sino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377440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φ(x, y) = </a:t>
            </a:r>
            <a:r>
              <a:rPr sz="1200" b="1">
                <a:solidFill>
                  <a:srgbClr val="1F77B4"/>
                </a:solidFill>
                <a:latin typeface="Consolas"/>
              </a:rPr>
              <a:t>φ₁ᴅ(x) · φ₁ᴅ(y)</a:t>
            </a:r>
            <a:r>
              <a:rPr sz="1100" b="0">
                <a:solidFill>
                  <a:srgbClr val="333333"/>
                </a:solidFill>
                <a:latin typeface="Calibri"/>
              </a:rPr>
              <a:t>  → stored as 2 vectors of length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633472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c2d(x, y) = </a:t>
            </a:r>
            <a:r>
              <a:rPr sz="1200" b="1">
                <a:solidFill>
                  <a:srgbClr val="1F77B4"/>
                </a:solidFill>
                <a:latin typeface="Consolas"/>
              </a:rPr>
              <a:t>c2d₁ᴅ(x) · c2d₁ᴅ(y)</a:t>
            </a:r>
            <a:r>
              <a:rPr sz="1100" b="0">
                <a:solidFill>
                  <a:srgbClr val="333333"/>
                </a:solidFill>
                <a:latin typeface="Calibri"/>
              </a:rPr>
              <a:t>  → 2 vectors of length 2n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889504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onsolas"/>
              </a:rPr>
              <a:t>(x₀, y₀) = </a:t>
            </a:r>
            <a:r>
              <a:rPr sz="1200" b="1">
                <a:solidFill>
                  <a:srgbClr val="1F77B4"/>
                </a:solidFill>
                <a:latin typeface="Consolas"/>
              </a:rPr>
              <a:t>(cos θₖ · r, −sin θₖ · r)</a:t>
            </a:r>
            <a:r>
              <a:rPr sz="1100" b="0">
                <a:solidFill>
                  <a:srgbClr val="333333"/>
                </a:solidFill>
                <a:latin typeface="Calibri"/>
              </a:rPr>
              <a:t>  → recomputed inside CUDA gather kernel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4173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77B4"/>
                </a:solidFill>
              </a:rPr>
              <a:t>Prop — Fresnel angular-spectrum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828800"/>
            <a:ext cx="685800" cy="384048"/>
          </a:xfrm>
          <a:prstGeom prst="roundRect">
            <a:avLst>
              <a:gd name="adj" fmla="val 15000"/>
            </a:avLst>
          </a:prstGeom>
          <a:solidFill>
            <a:srgbClr val="F2F6FC"/>
          </a:solidFill>
          <a:ln w="952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1243D"/>
                </a:solidFill>
                <a:latin typeface="Consolas"/>
              </a:rPr>
              <a:t>ψ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86600" y="1929384"/>
            <a:ext cx="137160" cy="182880"/>
          </a:xfrm>
          <a:prstGeom prst="rightArrow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23760" y="1828800"/>
            <a:ext cx="685800" cy="384048"/>
          </a:xfrm>
          <a:prstGeom prst="roundRect">
            <a:avLst>
              <a:gd name="adj" fmla="val 15000"/>
            </a:avLst>
          </a:prstGeom>
          <a:solidFill>
            <a:srgbClr val="F2F6FC"/>
          </a:solidFill>
          <a:ln w="952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1243D"/>
                </a:solidFill>
                <a:latin typeface="Consolas"/>
              </a:rPr>
              <a:t>FFT_x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909560" y="1929384"/>
            <a:ext cx="137160" cy="182880"/>
          </a:xfrm>
          <a:prstGeom prst="rightArrow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6720" y="1828800"/>
            <a:ext cx="685800" cy="384048"/>
          </a:xfrm>
          <a:prstGeom prst="roundRect">
            <a:avLst>
              <a:gd name="adj" fmla="val 15000"/>
            </a:avLst>
          </a:prstGeom>
          <a:solidFill>
            <a:srgbClr val="F2F6FC"/>
          </a:solidFill>
          <a:ln w="952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1243D"/>
                </a:solidFill>
                <a:latin typeface="Consolas"/>
              </a:rPr>
              <a:t>·K_x(fx)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732520" y="1929384"/>
            <a:ext cx="137160" cy="182880"/>
          </a:xfrm>
          <a:prstGeom prst="rightArrow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869680" y="1828800"/>
            <a:ext cx="685800" cy="384048"/>
          </a:xfrm>
          <a:prstGeom prst="roundRect">
            <a:avLst>
              <a:gd name="adj" fmla="val 15000"/>
            </a:avLst>
          </a:prstGeom>
          <a:solidFill>
            <a:srgbClr val="F2F6FC"/>
          </a:solidFill>
          <a:ln w="952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1243D"/>
                </a:solidFill>
                <a:latin typeface="Consolas"/>
              </a:rPr>
              <a:t>FFT_y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555480" y="1929384"/>
            <a:ext cx="137160" cy="182880"/>
          </a:xfrm>
          <a:prstGeom prst="rightArrow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92640" y="1828800"/>
            <a:ext cx="685800" cy="384048"/>
          </a:xfrm>
          <a:prstGeom prst="roundRect">
            <a:avLst>
              <a:gd name="adj" fmla="val 15000"/>
            </a:avLst>
          </a:prstGeom>
          <a:solidFill>
            <a:srgbClr val="F2F6FC"/>
          </a:solidFill>
          <a:ln w="952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1243D"/>
                </a:solidFill>
                <a:latin typeface="Consolas"/>
              </a:rPr>
              <a:t>·K_y(fy)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0378440" y="1929384"/>
            <a:ext cx="137160" cy="182880"/>
          </a:xfrm>
          <a:prstGeom prst="rightArrow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515600" y="1828800"/>
            <a:ext cx="685800" cy="384048"/>
          </a:xfrm>
          <a:prstGeom prst="roundRect">
            <a:avLst>
              <a:gd name="adj" fmla="val 15000"/>
            </a:avLst>
          </a:prstGeom>
          <a:solidFill>
            <a:srgbClr val="F2F6FC"/>
          </a:solidFill>
          <a:ln w="952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1243D"/>
                </a:solidFill>
                <a:latin typeface="Consolas"/>
              </a:rPr>
              <a:t>IFFT_y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1201400" y="1929384"/>
            <a:ext cx="137160" cy="182880"/>
          </a:xfrm>
          <a:prstGeom prst="rightArrow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1338560" y="1828800"/>
            <a:ext cx="685800" cy="384048"/>
          </a:xfrm>
          <a:prstGeom prst="roundRect">
            <a:avLst>
              <a:gd name="adj" fmla="val 15000"/>
            </a:avLst>
          </a:prstGeom>
          <a:solidFill>
            <a:srgbClr val="F2F6FC"/>
          </a:solidFill>
          <a:ln w="952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1243D"/>
                </a:solidFill>
                <a:latin typeface="Consolas"/>
              </a:rPr>
              <a:t>IFFT_x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4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K(fx, fy) = exp(−iπλL(fx² + fy²)) = </a:t>
            </a:r>
            <a:r>
              <a:rPr sz="1300" b="1">
                <a:solidFill>
                  <a:srgbClr val="1F77B4"/>
                </a:solidFill>
                <a:latin typeface="Consolas"/>
              </a:rPr>
              <a:t>K_x(fx) · K_y(fy)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69748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Fresnel kernel is separable in the Fourier domain — stored as 2 vectors of length 2n.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5204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D3282F"/>
                </a:solidFill>
              </a:rPr>
              <a:t>Never allocated (would dominate at large N):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88620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D"/>
                </a:solidFill>
              </a:rPr>
              <a:t>who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388620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D"/>
                </a:solidFill>
              </a:rPr>
              <a:t>2-D object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388620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D"/>
                </a:solidFill>
              </a:rPr>
              <a:t>naive size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88620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1243D"/>
                </a:solidFill>
              </a:rPr>
              <a:t>what we store instead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142232"/>
            <a:ext cx="11338560" cy="23774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16052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7B4"/>
                </a:solidFill>
              </a:rPr>
              <a:t>Tomo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16052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φ  (n × n) c64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416052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3282F"/>
                </a:solidFill>
                <a:latin typeface="Consolas"/>
              </a:rPr>
              <a:t>n² ·  8 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16052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2 vectors × n  c64  (~ MB)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41655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7B4"/>
                </a:solidFill>
              </a:rPr>
              <a:t>Tomo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3040" y="441655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c2dfftshift  (2n × 2n) i8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441655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3282F"/>
                </a:solidFill>
                <a:latin typeface="Consolas"/>
              </a:rPr>
              <a:t>(2n)² · 1 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416552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2 vectors × 2n i8  (~ KB)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654296"/>
            <a:ext cx="11338560" cy="23774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4672584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77B4"/>
                </a:solidFill>
              </a:rPr>
              <a:t>Tomo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63040" y="467258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x, y  sample tables  f32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4672584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3282F"/>
                </a:solidFill>
                <a:latin typeface="Consolas"/>
              </a:rPr>
              <a:t>2 · nθ · n · 4 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4672584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recomputed in kernel from (cos θ, sin θ, idx)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92861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5F2E"/>
                </a:solidFill>
              </a:rPr>
              <a:t>Prop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4928616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onsolas"/>
              </a:rPr>
              <a:t>K  (2n × 2n) c64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63440" y="4928616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3282F"/>
                </a:solidFill>
                <a:latin typeface="Consolas"/>
              </a:rPr>
              <a:t>(2n)² · 8 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492861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2 vectors × 2n c64  (~ MB)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53492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1243D"/>
                </a:solidFill>
              </a:rPr>
              <a:t>Second-order tricks that ride the 1-D structure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5715000"/>
            <a:ext cx="3794760" cy="11430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5788152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Host-staged 2-D grid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" y="6062472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the full 2N × 2N Fourier grid lives PINNED on host; GPU sees only per-pass strips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" y="6611112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5F2E"/>
                </a:solidFill>
              </a:rPr>
              <a:t>→ GPU peak fixed at ~35 GB regardless of 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361688" y="5715000"/>
            <a:ext cx="3794760" cy="11430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98848" y="5788152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Banded pinned memory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98848" y="6062472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one 576 GB cudaHostAlloc  →  4–8 blocks of ≤ 144 GB each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98848" y="6611112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5F2E"/>
                </a:solidFill>
              </a:rPr>
              <a:t>→ fits under NVIDIA driver’s per-alloc cap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66176" y="5715000"/>
            <a:ext cx="3794760" cy="11430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03336" y="5788152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77B4"/>
                </a:solidFill>
              </a:rPr>
              <a:t>Streamed 3-way pipe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03336" y="6062472"/>
            <a:ext cx="3520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load ‖ compute ‖ store per chunk with 2× ping-pong pinned buffers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03336" y="6611112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15F2E"/>
                </a:solidFill>
              </a:rPr>
              <a:t>→ overlap hides H2D / D2H latency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